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</p:sldIdLst>
  <p:notesMasterIdLst>
    <p:notesMasterId r:id="rId5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notesMaster" Target="notesMasters/notesMaster1.xml"/><Relationship Id="rId53" Type="http://schemas.openxmlformats.org/officeDocument/2006/relationships/presProps" Target="presProps.xml"/><Relationship Id="rId54" Type="http://schemas.openxmlformats.org/officeDocument/2006/relationships/viewProps" Target="viewProps.xml"/><Relationship Id="rId55" Type="http://schemas.openxmlformats.org/officeDocument/2006/relationships/theme" Target="theme/theme1.xml"/><Relationship Id="rId5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0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0" y="822960"/>
            <a:ext cx="10543032" cy="5212080"/>
          </a:xfrm>
          <a:prstGeom prst="roundRect">
            <a:avLst>
              <a:gd name="adj" fmla="val 1754"/>
            </a:avLst>
          </a:prstGeom>
          <a:solidFill>
            <a:srgbClr val="17222E"/>
          </a:solidFill>
          <a:ln w="12700">
            <a:solidFill>
              <a:srgbClr val="22323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1234440"/>
            <a:ext cx="9784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 FINAL YEAR PROJECT REPORT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188720" y="1783080"/>
            <a:ext cx="9784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Reinforcement Learning-Based Identification of Failure Scenarios for Concept: Dynamic Risk Assessment of AI-Controlled Robotic Systems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1188720" y="3520440"/>
            <a:ext cx="9784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Simulation for Training &amp; Testing Robots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188720" y="4114800"/>
            <a:ext cx="5029200" cy="0"/>
          </a:xfrm>
          <a:prstGeom prst="line">
            <a:avLst/>
          </a:prstGeom>
          <a:noFill/>
          <a:ln w="12700">
            <a:solidFill>
              <a:srgbClr val="2B3D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88720" y="4343400"/>
            <a:ext cx="96926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b="1" dirty="0">
                <a:solidFill>
                  <a:srgbClr val="9FB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Submitted by:  </a:t>
            </a:r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E7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Vishnu Vishwakarma (22354)  •  Gyaneshvar (22328)
</a:t>
            </a:r>
            <a:pPr indent="0" marL="0">
              <a:lnSpc>
                <a:spcPct val="130000"/>
              </a:lnSpc>
              <a:buNone/>
            </a:pPr>
            <a:r>
              <a:rPr lang="en-US" sz="1350" b="1" dirty="0">
                <a:solidFill>
                  <a:srgbClr val="9FB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Supervisor:  </a:t>
            </a:r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E7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Er. Akhilesh Kumar, Assistant Professor, I.T. Department
</a:t>
            </a:r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E7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Institute of Engineering &amp; Technology, Dr. Rammanohar Lohia Avadh University, Ayodhya (U.P.)
</a:t>
            </a:r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9FB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 (Information Technology)  •  Session 2022–2026  •  July 2026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11109960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B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Risk Assessment of AI-Controlled Robotic Systems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 MATTER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10881360" cy="4617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E7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Certifies that Vishnu Vishwakarma (22354) and Gyaneshvar (22328) conducted the work presented in this project report.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E7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Title: “Reinforcement Learning-Based Identification of Failure Scenarios for Concept: Dynamic Risk Assessment of AI-Controlled Robotic Systems (3D Simulation for Training &amp; Testing Robots)”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E7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Field: Information Technology, Institute of Engineering &amp; Technology, affiliated with Dr. R.M.L. Avadh University, Ayodhya, Uttar Pradesh.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E7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Carried out under the supervision of Er. Akhilesh Kumar, Assistant Professor, IT Department.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E7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Declared to represent original work; contents do not form the basis for the award of any other degree at this or any other institution.</a:t>
            </a:r>
            <a:endParaRPr lang="en-US" sz="1600" dirty="0"/>
          </a:p>
          <a:p>
            <a:pPr lvl="1" marL="685800" indent="-342900">
              <a:spcAft>
                <a:spcPts val="600"/>
              </a:spcAft>
              <a:buSzPct val="100000"/>
              <a:buChar char="–"/>
            </a:pPr>
            <a:r>
              <a:rPr lang="en-US" sz="1400" dirty="0">
                <a:solidFill>
                  <a:srgbClr val="9FB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Signed by: Er. Akhilesh Kumar (Project Guide) and Er. Rajesh Kumar Singh (Head of Department, IT)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109960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B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Risk Assessment of AI-Controlled Robotic Systems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 MATTER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Candidate's Declaration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10881360" cy="4617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E7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Vishnu Vishwakarma (22354) and Gyaneshvar (22328) declare the work in this report is an authentic record of their own effort.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E7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Submitted in partial fulfilment of the requirements for the B.Tech (IT) degree, Department of I.T., IET, RMLAU, Faizabad, Ayodhya (U.P.).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E7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Carried out during B.Tech (IT) Final Year — Semester VII &amp; VIII — under the supervision of Er. Akhilesh Kumar.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E7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Supervisor(s) certify the candidates' statement is correct to the best of their knowledge.</a:t>
            </a:r>
            <a:endParaRPr lang="en-US" sz="1600" dirty="0"/>
          </a:p>
          <a:p>
            <a:pPr lvl="1" marL="685800" indent="-342900">
              <a:spcAft>
                <a:spcPts val="600"/>
              </a:spcAft>
              <a:buSzPct val="100000"/>
              <a:buChar char="–"/>
            </a:pPr>
            <a:r>
              <a:rPr lang="en-US" sz="1400" dirty="0">
                <a:solidFill>
                  <a:srgbClr val="9FB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Viva-voce examination record to be signed by Supervisor(s), Internal Examiner, H.O.D., and External Examiner.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109960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B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Risk Assessment of AI-Controlled Robotic Systems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 MATTER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10881360" cy="4617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E7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AI-controlled robotic systems pose risks to workers and the environment; traditional, one-time risk assessments cannot describe black-box, frequently-updated control policies.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E7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Concept: a new Dynamic Risk Assessment (DRA) approach for unknown / dynamically changing control policies, including reinforcement-learning-controlled robots.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E7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Combines (i) automated failure-mode identification and (ii) an RL-based search for critical failure scenarios, plus an evaluation stage that builds dynamic high-level risk models.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E7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Five-block pipeline: Data Logging → Skill Detection → Behavioral Analysis → Risk Model Generation → Risk Model Solver.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E7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Genetic Algorithms optimize fault-injection parameters (type, location, duration, magnitude) to efficiently discover high-risk system behaviors.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E7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Demonstrates that AI/ML methods can make safety assessment smarter, low-cost, and accessible — evaluated conceptually on a Franka Emika Panda manipulator.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109960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B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Risk Assessment of AI-Controlled Robotic Systems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 MATTER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Acknowledgement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10881360" cy="4617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E7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S.S. Mishra, Group Director, IET, RMLAU-Ayodhya — for infrastructural facilities that made this work possible.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E7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Er. Akhilesh Kumar, Department of Information Technology — for generous guidance, stimulating supervision and continuous encouragement.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E7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Er. Rajesh Kumar Singh, HOD, IT Department — for insightful comments and constructive suggestions that improved this work.</a:t>
            </a:r>
            <a:endParaRPr lang="en-US" sz="1600" dirty="0"/>
          </a:p>
          <a:p>
            <a:pPr lvl="1" marL="685800" indent="-342900">
              <a:spcAft>
                <a:spcPts val="600"/>
              </a:spcAft>
              <a:buSzPct val="100000"/>
              <a:buChar char="–"/>
            </a:pPr>
            <a:r>
              <a:rPr lang="en-US" sz="1400" dirty="0">
                <a:solidFill>
                  <a:srgbClr val="9FB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Vishnu Vishwakarma (22354)  &amp;  Gyaneshvar (22328)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109960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B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Risk Assessment of AI-Controlled Robotic Systems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 MATTER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of Contents (1/2)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10881360" cy="4617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E7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 Page (01)  ·  Certificate (02)  ·  Declaration (03)  ·  Abstract (04)  ·  Acknowledgement (05)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E7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of Contents (06)  ·  List of Figures (10)  ·  List of Tables (11)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E7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 — Introduction (1)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E7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2 — Problem Statement (4)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b="1" dirty="0">
                <a:solidFill>
                  <a:srgbClr val="E7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3 — Objectives, Scope, System Design, Implementation &amp; Testing (7)</a:t>
            </a:r>
            <a:endParaRPr lang="en-US" sz="1600" dirty="0"/>
          </a:p>
          <a:p>
            <a:pPr lvl="1" marL="685800" indent="-342900">
              <a:spcAft>
                <a:spcPts val="600"/>
              </a:spcAft>
              <a:buSzPct val="100000"/>
              <a:buChar char="–"/>
            </a:pPr>
            <a:r>
              <a:rPr lang="en-US" sz="1400" dirty="0">
                <a:solidFill>
                  <a:srgbClr val="9FB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3.1 Objectives · 3.2 Scope · 3.3 Significance · 3.4 Report Organization · 3.5 Private Startups · 3.6 Related Papers · 3.7 Gaps · 3.8 Addressing Gaps</a:t>
            </a:r>
            <a:endParaRPr lang="en-US" sz="1600" dirty="0"/>
          </a:p>
          <a:p>
            <a:pPr lvl="1" marL="685800" indent="-342900">
              <a:spcAft>
                <a:spcPts val="600"/>
              </a:spcAft>
              <a:buSzPct val="100000"/>
              <a:buChar char="–"/>
            </a:pPr>
            <a:r>
              <a:rPr lang="en-US" sz="1400" dirty="0">
                <a:solidFill>
                  <a:srgbClr val="9FB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3.9–3.13 System Analysis, Architecture, Design Elements, Security &amp; Design Considerations</a:t>
            </a:r>
            <a:endParaRPr lang="en-US" sz="1600" dirty="0"/>
          </a:p>
          <a:p>
            <a:pPr lvl="1" marL="685800" indent="-342900">
              <a:spcAft>
                <a:spcPts val="600"/>
              </a:spcAft>
              <a:buSzPct val="100000"/>
              <a:buChar char="–"/>
            </a:pPr>
            <a:r>
              <a:rPr lang="en-US" sz="1400" dirty="0">
                <a:solidFill>
                  <a:srgbClr val="9FB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3.14–3.21 Implementation, Environment, Modules, Frontend/Backend, Database, Testing, Integration, Deployment</a:t>
            </a:r>
            <a:endParaRPr lang="en-US" sz="1600" dirty="0"/>
          </a:p>
          <a:p>
            <a:pPr lvl="1" marL="685800" indent="-342900">
              <a:spcAft>
                <a:spcPts val="600"/>
              </a:spcAft>
              <a:buSzPct val="100000"/>
              <a:buChar char="–"/>
            </a:pPr>
            <a:r>
              <a:rPr lang="en-US" sz="1400" dirty="0">
                <a:solidFill>
                  <a:srgbClr val="9FB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3.22–3.31 Testing Strategy, Test Cases, Results, Performance, Limitations, Achievements, Applications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109960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B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Risk Assessment of AI-Controlled Robotic Systems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 MATTER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of Contents (2/2)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10881360" cy="4617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E7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4 — Literature Survey / Project Idea (21): Dynamic Risk Assessment · LLMs for Risk Assessment · Fault Injection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E7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5 — Proposed Methodology (24): Data Logging · Skill Detection · Behavioral Analysis · Risk Model Generation · Risk Model Solver · Failure Mode Identifier · Failure Scenario Analyzer · Genetic Algorithms · Evaluation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E7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6 — Hardware &amp; Software Requirements (31)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E7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7 — Experimental Setup (34): Robotic System · Control Policy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E7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8 — Challenges &amp; Preliminary Results and Discussion (35)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E7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9 — Conclusion and Future Scope (41)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E7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10 — References (42)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E7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11 — Appendices / Annexure-A (47): Source Code, Dataset, User Manual, Screenshots, Publications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109960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B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Risk Assessment of AI-Controlled Robotic Systems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 MATTER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of Figures</a:t>
            </a:r>
            <a:endParaRPr lang="en-US" sz="28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1106424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7772400"/>
                <a:gridCol w="210312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Figure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4E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Title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4E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4E4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7ED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2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7ED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Robotic manipulator trained to grasp a test tube at A and place at B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2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7ED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22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7ED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2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7ED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Proposed approach to dynamic risk assessment of AI-controlled robots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2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7ED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22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7ED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2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7ED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RL-based identification of failure scenarios for dynamic risk assessment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2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7ED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22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7ED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2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7ED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End-to-End working flow of the algorithm (DRA of AI-controlled robots)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2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7ED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22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7ED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2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7ED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Robotic manipulator trained to detect, grasp, and place an object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2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7ED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22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7ED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2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7ED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Failure Mode Identifier — automatic failure-mode identification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2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7ED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22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7ED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2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7ED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Failure Scenario Analyzer — dynamic exploration of event sequences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2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7ED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22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7ED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2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7ED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Hardware and Software Requirements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2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7ED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22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7ED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2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7ED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Prompt of the RiskGPT model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2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7ED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22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7ED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8.2(a/b)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2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7ED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Dynamic Exploration Search Curve / Trajectory Deviation Profile (Output)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2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7ED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22E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11109960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B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Risk Assessment of AI-Controlled Robotic Systems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 MATTER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of Tables</a:t>
            </a:r>
            <a:endParaRPr lang="en-US" sz="28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1106424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8138160"/>
                <a:gridCol w="155448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Table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4E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Title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4E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4E4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7ED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3.15.1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2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7ED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Technologies Used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2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7ED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22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7ED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3.24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2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7ED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Cases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2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7ED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22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7ED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2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7ED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Hardware Requirements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2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7ED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22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7ED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2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7ED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Software Requirements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2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7ED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22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7ED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8.3.3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2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7ED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Comparison with Existing Systems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2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7ED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22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7ED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2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7ED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Hybrid System Dynamic Risk Assessment Failure Scenario Matrix (Output)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2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7ED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22E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11109960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B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Risk Assessment of AI-Controlled Robotic Systems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 · INTRODUCTION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Robotic Safety &amp; the Case for Dynamic Risk Assessment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10881360" cy="4617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E7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Robotic systems are safety-critical: they operate near humans, share moving parts, and may handle hazardous substances.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E7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AI/RL-controlled robots are increasingly popular but lack inherent safety guarantees.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E7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Dynamically changing control policies improve flexibility and reconfigurability — but every new policy can change robot behavior, demanding a fresh risk assessment.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E7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research question: How can we dynamically assess risk in robotic systems controlled by black-box policies?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E7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Paradigm shift needed: from one-time static assessment before deployment → continuous dynamic risk assessment across the system lifecycle.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109960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B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Risk Assessment of AI-Controlled Robotic Systems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 · INTRODUCTION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Contribution &amp; Genetic Algorithms for Fault Search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10881360" cy="4617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E7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Novel concept for dynamic risk assessment of unknown / changing control policies, focused on RL-controlled robots.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E7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Integrates automated failure-mode identification with an RL-based search for critical failure scenarios.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E7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 an evaluation stage that builds dynamic high-level risk models and pinpoints vulnerabilities.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E7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Genetic Algorithms mimic natural evolution to optimize fault type, location, duration, and magnitude — efficiently uncovering high-risk conditions conventional testing misses.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E7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Applicability to be evaluated on a real Franka Emika Panda robot running RL policies (Figure 1.1: grasp test tube at A, place at B).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109960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B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Risk Assessment of AI-Controlled Robotic Systems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 · INTRODUCTION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Five-Block Pipeline (Figure 1.2)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2377440"/>
            <a:ext cx="2029968" cy="1554480"/>
          </a:xfrm>
          <a:prstGeom prst="roundRect">
            <a:avLst>
              <a:gd name="adj" fmla="val 3529"/>
            </a:avLst>
          </a:prstGeom>
          <a:solidFill>
            <a:srgbClr val="1B4B49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245059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58368" y="2788920"/>
            <a:ext cx="181051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7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Logging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7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Hardware-integrated ROS logger records joint positions &amp; velocities as time-series data.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2578608" y="2880360"/>
            <a:ext cx="228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2807208" y="2377440"/>
            <a:ext cx="2029968" cy="1554480"/>
          </a:xfrm>
          <a:prstGeom prst="roundRect">
            <a:avLst>
              <a:gd name="adj" fmla="val 3529"/>
            </a:avLst>
          </a:prstGeom>
          <a:solidFill>
            <a:srgbClr val="20303D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898648" y="245059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916936" y="2788920"/>
            <a:ext cx="181051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7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Detection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7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Deep-learning classifier labels time-series data with executed skills (move, pick, carry…).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837176" y="2880360"/>
            <a:ext cx="228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5065776" y="2377440"/>
            <a:ext cx="2029968" cy="1554480"/>
          </a:xfrm>
          <a:prstGeom prst="roundRect">
            <a:avLst>
              <a:gd name="adj" fmla="val 3529"/>
            </a:avLst>
          </a:prstGeom>
          <a:solidFill>
            <a:srgbClr val="1B4B49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157216" y="245059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175504" y="2788920"/>
            <a:ext cx="181051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7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Behavioral Analysis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7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a behavioral profile: skill sequence, active components, reliability-relevant properties.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7095744" y="2880360"/>
            <a:ext cx="228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7324344" y="2377440"/>
            <a:ext cx="2029968" cy="1554480"/>
          </a:xfrm>
          <a:prstGeom prst="roundRect">
            <a:avLst>
              <a:gd name="adj" fmla="val 3529"/>
            </a:avLst>
          </a:prstGeom>
          <a:solidFill>
            <a:srgbClr val="20303D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415784" y="245059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434072" y="2788920"/>
            <a:ext cx="181051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7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Model Generation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7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Transforms behavioral profile + component failure probabilities into hybrid risk models.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9354312" y="2880360"/>
            <a:ext cx="228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9582912" y="2377440"/>
            <a:ext cx="2029968" cy="1554480"/>
          </a:xfrm>
          <a:prstGeom prst="roundRect">
            <a:avLst>
              <a:gd name="adj" fmla="val 3529"/>
            </a:avLst>
          </a:prstGeom>
          <a:solidFill>
            <a:srgbClr val="1B4B49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674352" y="245059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692640" y="2788920"/>
            <a:ext cx="181051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7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Model Solver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7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Numerically quantifies the generated hybrid risk models.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640080" y="4297680"/>
            <a:ext cx="10881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▪"/>
            </a:pPr>
            <a:r>
              <a:rPr lang="en-US" sz="1400" dirty="0">
                <a:solidFill>
                  <a:srgbClr val="9FB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Robotic system components monitored: Gripper, Joints, Links, Motors, Base, Controller, Camera, Power system, Software.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1109960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B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Risk Assessment of AI-Controlled Robotic Systems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2 · PROBLEM STATEMENT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&amp; Limitations of Traditional Risk Assessment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440680" cy="4480560"/>
          </a:xfrm>
          <a:prstGeom prst="roundRect">
            <a:avLst>
              <a:gd name="adj" fmla="val 1633"/>
            </a:avLst>
          </a:prstGeom>
          <a:solidFill>
            <a:srgbClr val="17222E"/>
          </a:solidFill>
          <a:ln w="12700">
            <a:solidFill>
              <a:srgbClr val="17222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172200" y="1783080"/>
            <a:ext cx="5440680" cy="4480560"/>
          </a:xfrm>
          <a:prstGeom prst="roundRect">
            <a:avLst>
              <a:gd name="adj" fmla="val 1633"/>
            </a:avLst>
          </a:prstGeom>
          <a:solidFill>
            <a:srgbClr val="17222E"/>
          </a:solidFill>
          <a:ln w="12700">
            <a:solidFill>
              <a:srgbClr val="1722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20116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68680" y="2468880"/>
            <a:ext cx="493776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350" dirty="0">
                <a:solidFill>
                  <a:srgbClr val="E7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 enables autonomous decision-making &amp; adaptive behavior in industrial automation, healthcare, logistics, and human-robot collaboration.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350" dirty="0">
                <a:solidFill>
                  <a:srgbClr val="E7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Learned RL policies behave as black boxes — hard to understand, interpret, or verify.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492240" y="20116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of Traditional Methods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92240" y="2468880"/>
            <a:ext cx="493776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350" dirty="0">
                <a:solidFill>
                  <a:srgbClr val="E7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for deterministic systems; assume behavior is fixed after deployment.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350" dirty="0">
                <a:solidFill>
                  <a:srgbClr val="E7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 risk analysis only once, at the design stage.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350" dirty="0">
                <a:solidFill>
                  <a:srgbClr val="E7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Invalid for RL agents that continuously adapt via retraining and software updates.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11109960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B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Risk Assessment of AI-Controlled Robotic Systems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7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2 · PROBLEM STATEMENT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in Failure Discovery &amp; Fault Injection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440680" cy="4480560"/>
          </a:xfrm>
          <a:prstGeom prst="roundRect">
            <a:avLst>
              <a:gd name="adj" fmla="val 1633"/>
            </a:avLst>
          </a:prstGeom>
          <a:solidFill>
            <a:srgbClr val="17222E"/>
          </a:solidFill>
          <a:ln w="12700">
            <a:solidFill>
              <a:srgbClr val="17222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172200" y="1783080"/>
            <a:ext cx="5440680" cy="4480560"/>
          </a:xfrm>
          <a:prstGeom prst="roundRect">
            <a:avLst>
              <a:gd name="adj" fmla="val 1633"/>
            </a:avLst>
          </a:prstGeom>
          <a:solidFill>
            <a:srgbClr val="17222E"/>
          </a:solidFill>
          <a:ln w="12700">
            <a:solidFill>
              <a:srgbClr val="1722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20116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Identifying Critical Scenarios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68680" y="2468880"/>
            <a:ext cx="493776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350" dirty="0">
                <a:solidFill>
                  <a:srgbClr val="E7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Conventional testing relies on manually designed, predefined fault cases.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350" dirty="0">
                <a:solidFill>
                  <a:srgbClr val="E7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explore the huge space of sensor, actuator, software, and human-interaction faults.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350" dirty="0">
                <a:solidFill>
                  <a:srgbClr val="E7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Dangerous scenarios often surface only after real-world deployment.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492240" y="20116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 &amp; Fault Injection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92240" y="2468880"/>
            <a:ext cx="493776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350" dirty="0">
                <a:solidFill>
                  <a:srgbClr val="E7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Simulation-based testing executes only predefined scenarios.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350" dirty="0">
                <a:solidFill>
                  <a:srgbClr val="E7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RL-based exploration can help but suffers from sparse rewards &amp; slow convergence.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350" dirty="0">
                <a:solidFill>
                  <a:srgbClr val="E7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fault-parameter selection (type, location, timing, intensity) is costly and incomplete.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11109960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B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Risk Assessment of AI-Controlled Robotic Systems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7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2 · PROBLEM STATEMENT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Gap &amp; the Need for a New Framework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10881360" cy="4617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E7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dynamic risk assessment frameworks mostly cover hardware failures; software behavior, AI decision-making, and intelligent failure analysis are poorly integrated.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E7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unified approach combines simulation, fault injection, behavioral analysis, RL, Genetic Algorithms, LLMs, and dynamic risk modeling.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E7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framework should integrate:</a:t>
            </a:r>
            <a:endParaRPr lang="en-US" sz="1600" dirty="0"/>
          </a:p>
          <a:p>
            <a:pPr lvl="1" marL="685800" indent="-342900">
              <a:spcAft>
                <a:spcPts val="600"/>
              </a:spcAft>
              <a:buSzPct val="100000"/>
              <a:buChar char="–"/>
            </a:pPr>
            <a:r>
              <a:rPr lang="en-US" sz="1400" dirty="0">
                <a:solidFill>
                  <a:srgbClr val="9FB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Reinforcement Learning for intelligent exploration of hazardous scenarios</a:t>
            </a:r>
            <a:endParaRPr lang="en-US" sz="1600" dirty="0"/>
          </a:p>
          <a:p>
            <a:pPr lvl="1" marL="685800" indent="-342900">
              <a:spcAft>
                <a:spcPts val="600"/>
              </a:spcAft>
              <a:buSzPct val="100000"/>
              <a:buChar char="–"/>
            </a:pPr>
            <a:r>
              <a:rPr lang="en-US" sz="1400" dirty="0">
                <a:solidFill>
                  <a:srgbClr val="9FB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Fault Injection for realistic fault simulation</a:t>
            </a:r>
            <a:endParaRPr lang="en-US" sz="1600" dirty="0"/>
          </a:p>
          <a:p>
            <a:pPr lvl="1" marL="685800" indent="-342900">
              <a:spcAft>
                <a:spcPts val="600"/>
              </a:spcAft>
              <a:buSzPct val="100000"/>
              <a:buChar char="–"/>
            </a:pPr>
            <a:r>
              <a:rPr lang="en-US" sz="1400" dirty="0">
                <a:solidFill>
                  <a:srgbClr val="9FB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for skill detection &amp; behavioral analysis</a:t>
            </a:r>
            <a:endParaRPr lang="en-US" sz="1600" dirty="0"/>
          </a:p>
          <a:p>
            <a:pPr lvl="1" marL="685800" indent="-342900">
              <a:spcAft>
                <a:spcPts val="600"/>
              </a:spcAft>
              <a:buSzPct val="100000"/>
              <a:buChar char="–"/>
            </a:pPr>
            <a:r>
              <a:rPr lang="en-US" sz="1400" dirty="0">
                <a:solidFill>
                  <a:srgbClr val="9FB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Genetic Algorithms to optimize fault-injection parameters</a:t>
            </a:r>
            <a:endParaRPr lang="en-US" sz="1600" dirty="0"/>
          </a:p>
          <a:p>
            <a:pPr lvl="1" marL="685800" indent="-342900">
              <a:spcAft>
                <a:spcPts val="600"/>
              </a:spcAft>
              <a:buSzPct val="100000"/>
              <a:buChar char="–"/>
            </a:pPr>
            <a:r>
              <a:rPr lang="en-US" sz="1400" dirty="0">
                <a:solidFill>
                  <a:srgbClr val="9FB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+ RAG for automated failure-mode identification</a:t>
            </a:r>
            <a:endParaRPr lang="en-US" sz="1600" dirty="0"/>
          </a:p>
          <a:p>
            <a:pPr lvl="1" marL="685800" indent="-342900">
              <a:spcAft>
                <a:spcPts val="600"/>
              </a:spcAft>
              <a:buSzPct val="100000"/>
              <a:buChar char="–"/>
            </a:pPr>
            <a:r>
              <a:rPr lang="en-US" sz="1400" dirty="0">
                <a:solidFill>
                  <a:srgbClr val="9FB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risk models — Fault Trees, Bayesian Networks, Markov Chains, OpenPRA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109960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B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Risk Assessment of AI-Controlled Robotic Systems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17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2 · PROBLEM STATEMENT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Definition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10881360" cy="4617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E7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problem: absence of a comprehensive, adaptive, automated framework for dynamic risk assessment of RL-controlled black-box robotic systems.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E7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approaches cannot continuously identify emerging hazards, auto-discover critical failure scenarios, or update risk models as robot behavior evolves.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E7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solution integrates: Data Logging, Skill Detection, Behavioral Analysis, Fault Injection, Failure Mode Identification, RL-based Failure Scenario Analysis, Genetic Algorithm optimization, and Dynamic Risk Modeling.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E7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improve safety, reliability, robustness, and trustworthiness of next-generation AI-controlled robotic systems in safety-critical environments.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109960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B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Risk Assessment of AI-Controlled Robotic Systems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17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3 · DESIGN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3.1–3.4  Objectives, Scope, Significance &amp; Report Layout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10881360" cy="4617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E7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Objectives: build an intelligent RL-based framework for identifying failure scenarios; implement Data Logging, Skill Detection, Behavioral Analysis, Risk Model Generation, RiskGPT, and RL-based Failure Scenario Analysis; use GAs to improve fault-exploration efficiency.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E7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Scope: DRA framework in a simulated ROS + Gazebo environment; applicable to industrial automation, warehouses, healthcare, and smart manufacturing; limited to simulated manipulators, not physical deployment.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E7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Significance: continuous safety monitoring across the robot's operational lifecycle, not just before deployment; integrates RL, ROS, Gazebo, RiskGPT, and probabilistic analysis.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E7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Organization: Ch.1 background/objectives → Ch.2 literature &amp; gaps → Ch.3 design &amp; implementation → concluding chapters with findings and future work.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109960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B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Risk Assessment of AI-Controlled Robotic Systems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F17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3 · DESIGN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3.5  Private Startups &amp; Industry Projects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10881360" cy="4617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E7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Boston Dynamics — advanced mobile robots (Spot, Atlas) for autonomous navigation and object handling.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E7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NVIDIA — AI computing platforms &amp; simulation environments (Isaac Sim) for training/testing RL policies virtually.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E7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Covariant — deep-learning warehouse robots that identify, pick, and sort objects.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E7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Intrinsic (Alphabet) — AI software that simplifies robot programming and task learning.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E7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AI &amp; Sanctuary AI — humanoid robots for human-like industrial/commercial tasks.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E7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Gap: industry focuses on performance &amp; automation; continuous dynamic risk assessment remains largely unexplored — the motivation for this project.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109960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B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Risk Assessment of AI-Controlled Robotic Systems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F17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3 · DESIGN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3.6–3.8  Related Work, Gaps &amp; How This Project Responds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10881360" cy="4617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E7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Related research: probabilistic models (FTA, Bayesian Networks, RBD, Markov Models); RL for adaptive robot behavior; LLMs for documentation/fault ID (basis for RiskGPT); ROS/Gazebo for simulation-based testing.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E7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Gaps identified: safety evaluated mainly pre-deployment with static methods; most frameworks analyze isolated components rather than an end-to-end pipeline; manual hazard identification is slow and may miss rare failures.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E7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this project responds: continuous DRA throughout operation; integrates Data Logging, Skill Detection, Behavioral Analysis, Risk Model Generation, RiskGPT, and RL-based Failure Scenario Analysis into one automated pipeline.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109960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B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Risk Assessment of AI-Controlled Robotic Systems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F17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3 · DESIGN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3.9–3.11  System Architecture (High Level)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2377440"/>
            <a:ext cx="2029968" cy="1554480"/>
          </a:xfrm>
          <a:prstGeom prst="roundRect">
            <a:avLst>
              <a:gd name="adj" fmla="val 3529"/>
            </a:avLst>
          </a:prstGeom>
          <a:solidFill>
            <a:srgbClr val="1B4B49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245059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58368" y="2788920"/>
            <a:ext cx="181051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7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 + Gazebo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7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Robotic simulation environment executing move / pick / carry / place tasks.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2578608" y="2880360"/>
            <a:ext cx="228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2807208" y="2377440"/>
            <a:ext cx="2029968" cy="1554480"/>
          </a:xfrm>
          <a:prstGeom prst="roundRect">
            <a:avLst>
              <a:gd name="adj" fmla="val 3529"/>
            </a:avLst>
          </a:prstGeom>
          <a:solidFill>
            <a:srgbClr val="20303D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898648" y="245059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916936" y="2788920"/>
            <a:ext cx="181051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7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Logging &amp; Skill Detection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7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sensor/joint data; classifies the robot's current activity.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837176" y="2880360"/>
            <a:ext cx="228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5065776" y="2377440"/>
            <a:ext cx="2029968" cy="1554480"/>
          </a:xfrm>
          <a:prstGeom prst="roundRect">
            <a:avLst>
              <a:gd name="adj" fmla="val 3529"/>
            </a:avLst>
          </a:prstGeom>
          <a:solidFill>
            <a:srgbClr val="1B4B49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157216" y="245059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175504" y="2788920"/>
            <a:ext cx="181051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7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Behavioral Analysis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7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behavioral profiles of execution patterns.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7095744" y="2880360"/>
            <a:ext cx="228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7324344" y="2377440"/>
            <a:ext cx="2029968" cy="1554480"/>
          </a:xfrm>
          <a:prstGeom prst="roundRect">
            <a:avLst>
              <a:gd name="adj" fmla="val 3529"/>
            </a:avLst>
          </a:prstGeom>
          <a:solidFill>
            <a:srgbClr val="20303D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415784" y="245059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434072" y="2788920"/>
            <a:ext cx="181051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7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Model Generator + RiskGPT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7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probabilistic risk models; identifies failure modes &amp; mitigations.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9354312" y="2880360"/>
            <a:ext cx="228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9582912" y="2377440"/>
            <a:ext cx="2029968" cy="1554480"/>
          </a:xfrm>
          <a:prstGeom prst="roundRect">
            <a:avLst>
              <a:gd name="adj" fmla="val 3529"/>
            </a:avLst>
          </a:prstGeom>
          <a:solidFill>
            <a:srgbClr val="1B4B49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674352" y="245059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692640" y="2788920"/>
            <a:ext cx="181051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7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Scenario Analyzer + Risk Solver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7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 explores fault combinations; solver computes the final risk report.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640080" y="4297680"/>
            <a:ext cx="10881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▪"/>
            </a:pPr>
            <a:r>
              <a:rPr lang="en-US" sz="1400" dirty="0">
                <a:solidFill>
                  <a:srgbClr val="9FB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design: each block communicates with the next, enabling scalability, easier maintenance, and future enhancement.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1109960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B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Risk Assessment of AI-Controlled Robotic Systems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F17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3 · DESIGN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3.12–3.13  Security, Privacy &amp; Design Considerations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440680" cy="4480560"/>
          </a:xfrm>
          <a:prstGeom prst="roundRect">
            <a:avLst>
              <a:gd name="adj" fmla="val 1633"/>
            </a:avLst>
          </a:prstGeom>
          <a:solidFill>
            <a:srgbClr val="17222E"/>
          </a:solidFill>
          <a:ln w="12700">
            <a:solidFill>
              <a:srgbClr val="17222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172200" y="1783080"/>
            <a:ext cx="5440680" cy="4480560"/>
          </a:xfrm>
          <a:prstGeom prst="roundRect">
            <a:avLst>
              <a:gd name="adj" fmla="val 1633"/>
            </a:avLst>
          </a:prstGeom>
          <a:solidFill>
            <a:srgbClr val="17222E"/>
          </a:solidFill>
          <a:ln w="12700">
            <a:solidFill>
              <a:srgbClr val="1722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20116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&amp; Privacy Design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68680" y="2468880"/>
            <a:ext cx="493776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350" dirty="0">
                <a:solidFill>
                  <a:srgbClr val="E7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data securely stored; accessible only to authorized modules.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350" dirty="0">
                <a:solidFill>
                  <a:srgbClr val="E7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Prevents unauthorized modification of sensor data, behavioral profiles, and risk models.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350" dirty="0">
                <a:solidFill>
                  <a:srgbClr val="E7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Simulation-first testing avoids exposing physical robots/humans to hazards.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350" dirty="0">
                <a:solidFill>
                  <a:srgbClr val="E7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Future: encrypted transmission &amp; cloud-based authentication.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492240" y="20116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Considerations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92240" y="2468880"/>
            <a:ext cx="493776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350" dirty="0">
                <a:solidFill>
                  <a:srgbClr val="E7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Modularity — independent components with efficient inter-module communication.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350" dirty="0">
                <a:solidFill>
                  <a:srgbClr val="E7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Scalability — new robots, sensors, or AI modules add with minimal rework.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350" dirty="0">
                <a:solidFill>
                  <a:srgbClr val="E7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 &amp; accuracy — automated analysis reduces human error.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350" dirty="0">
                <a:solidFill>
                  <a:srgbClr val="E7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Usability &amp; flexibility — adaptable across industrial, healthcare, and research domains.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11109960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B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Risk Assessment of AI-Controlled Robotic Systems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F17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3 · IMPLEMENTATION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3.14–3.16.1  Development Environment &amp; Technologies Used</a:t>
            </a:r>
            <a:endParaRPr lang="en-US" sz="28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11064240" cy="914400"/>
        </p:xfrm>
        <a:graphic>
          <a:graphicData uri="http://schemas.openxmlformats.org/drawingml/2006/table">
            <a:tbl>
              <a:tblPr/>
              <a:tblGrid>
                <a:gridCol w="4114800"/>
                <a:gridCol w="694944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Technology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4E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Purpose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4E4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7ED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Python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2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7ED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Programming language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22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7ED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ROS / ROS 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2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7ED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Robot middleware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22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7ED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Gazebo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2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7ED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3D robot simulation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22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7ED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Reinforcement Learning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2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7ED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Robot learning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22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7ED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PPO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2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7ED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Policy optimization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22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7ED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Deep Q-Learning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2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7ED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 making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22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7ED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Genetic Algorithm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2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7ED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Fault optimization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22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7ED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Deep Learning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2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7ED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Intelligent analysis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22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7ED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OpenPRA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2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7ED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Probabilistic risk assessment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22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7ED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GPT / Llama Models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2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7ED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Failure mode identification (RiskGPT)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22E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11109960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B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Risk Assessment of AI-Controlled Robotic Systems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F17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3 · IMPLEMENTATION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3.15.1  Used Keywords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212080" cy="685800"/>
          </a:xfrm>
          <a:prstGeom prst="roundRect">
            <a:avLst>
              <a:gd name="adj" fmla="val 8000"/>
            </a:avLst>
          </a:prstGeom>
          <a:solidFill>
            <a:srgbClr val="17222E"/>
          </a:solidFill>
          <a:ln w="12700">
            <a:solidFill>
              <a:srgbClr val="17222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828800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7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Dynamic Risk Assessment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217920" y="1828800"/>
            <a:ext cx="5212080" cy="685800"/>
          </a:xfrm>
          <a:prstGeom prst="roundRect">
            <a:avLst>
              <a:gd name="adj" fmla="val 8000"/>
            </a:avLst>
          </a:prstGeom>
          <a:solidFill>
            <a:srgbClr val="17222E"/>
          </a:solidFill>
          <a:ln w="12700">
            <a:solidFill>
              <a:srgbClr val="17222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46520" y="1828800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7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Hybrid Risk Models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2697480"/>
            <a:ext cx="5212080" cy="685800"/>
          </a:xfrm>
          <a:prstGeom prst="roundRect">
            <a:avLst>
              <a:gd name="adj" fmla="val 8000"/>
            </a:avLst>
          </a:prstGeom>
          <a:solidFill>
            <a:srgbClr val="17222E"/>
          </a:solidFill>
          <a:ln w="12700">
            <a:solidFill>
              <a:srgbClr val="17222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2697480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7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Fault Injection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217920" y="2697480"/>
            <a:ext cx="5212080" cy="685800"/>
          </a:xfrm>
          <a:prstGeom prst="roundRect">
            <a:avLst>
              <a:gd name="adj" fmla="val 8000"/>
            </a:avLst>
          </a:prstGeom>
          <a:solidFill>
            <a:srgbClr val="17222E"/>
          </a:solidFill>
          <a:ln w="12700">
            <a:solidFill>
              <a:srgbClr val="17222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46520" y="2697480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7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M2M (Model-to-Model) Transformation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" y="3566160"/>
            <a:ext cx="5212080" cy="685800"/>
          </a:xfrm>
          <a:prstGeom prst="roundRect">
            <a:avLst>
              <a:gd name="adj" fmla="val 8000"/>
            </a:avLst>
          </a:prstGeom>
          <a:solidFill>
            <a:srgbClr val="17222E"/>
          </a:solidFill>
          <a:ln w="12700">
            <a:solidFill>
              <a:srgbClr val="17222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3566160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7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ROS (Robot Operating System)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217920" y="3566160"/>
            <a:ext cx="5212080" cy="685800"/>
          </a:xfrm>
          <a:prstGeom prst="roundRect">
            <a:avLst>
              <a:gd name="adj" fmla="val 8000"/>
            </a:avLst>
          </a:prstGeom>
          <a:solidFill>
            <a:srgbClr val="17222E"/>
          </a:solidFill>
          <a:ln w="12700">
            <a:solidFill>
              <a:srgbClr val="17222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46520" y="3566160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7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 AI-Controlled Robotic Systems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40080" y="4434840"/>
            <a:ext cx="5212080" cy="685800"/>
          </a:xfrm>
          <a:prstGeom prst="roundRect">
            <a:avLst>
              <a:gd name="adj" fmla="val 8000"/>
            </a:avLst>
          </a:prstGeom>
          <a:solidFill>
            <a:srgbClr val="17222E"/>
          </a:solidFill>
          <a:ln w="12700">
            <a:solidFill>
              <a:srgbClr val="17222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8680" y="4434840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7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 Genetic Algorithms (G.A.s)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217920" y="4434840"/>
            <a:ext cx="5212080" cy="685800"/>
          </a:xfrm>
          <a:prstGeom prst="roundRect">
            <a:avLst>
              <a:gd name="adj" fmla="val 8000"/>
            </a:avLst>
          </a:prstGeom>
          <a:solidFill>
            <a:srgbClr val="17222E"/>
          </a:solidFill>
          <a:ln w="12700">
            <a:solidFill>
              <a:srgbClr val="17222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46520" y="4434840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7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 Deep Learning (DL)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40080" y="5303520"/>
            <a:ext cx="5212080" cy="685800"/>
          </a:xfrm>
          <a:prstGeom prst="roundRect">
            <a:avLst>
              <a:gd name="adj" fmla="val 8000"/>
            </a:avLst>
          </a:prstGeom>
          <a:solidFill>
            <a:srgbClr val="17222E"/>
          </a:solidFill>
          <a:ln w="12700">
            <a:solidFill>
              <a:srgbClr val="17222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68680" y="5303520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7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 Large Language Models (LLMs)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217920" y="5303520"/>
            <a:ext cx="5212080" cy="685800"/>
          </a:xfrm>
          <a:prstGeom prst="roundRect">
            <a:avLst>
              <a:gd name="adj" fmla="val 8000"/>
            </a:avLst>
          </a:prstGeom>
          <a:solidFill>
            <a:srgbClr val="17222E"/>
          </a:solidFill>
          <a:ln w="12700">
            <a:solidFill>
              <a:srgbClr val="17222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46520" y="5303520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7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  Reinforcement Learning (RL)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1109960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B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22b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Risk Assessment of AI-Controlled Robotic Systems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F17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3 · IMPLEMENTATION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3.16–3.18  Modules, Frontend/Backend &amp; Database Design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10881360" cy="4617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E7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Logging: joint positions, velocities, sensor readings, actuator efforts.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E7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Detection: identifies the robot's current task from operational data.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E7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Behavioral Analysis → Risk Model Generator → RiskGPT → Failure Scenario Analyzer (RL) → Risk Model Solver — produces the final DRA report.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E7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Frontend/Backend: client-server design; frontend configures simulations &amp; visualizes results; backend runs simulation, RL, behavioral analysis, and probabilistic computation via ROS nodes/services.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E7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Database: stores sensor readings, robot states, detected skills, behavioral profiles, failure modes, risk models, and assessment results for repeatable analysis.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109960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B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Risk Assessment of AI-Controlled Robotic Systems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F17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3 · IMPLEMENTATION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3.19–3.21  Testing, Integration &amp; Deployment Plan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10881360" cy="4617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E7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 tested independently first, then verified under normal and faulty operating conditions in Gazebo, comparing outputs to expected results.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E7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Integration: Data Logging feeds Skill Detection &amp; Behavioral Analysis → Risk Model Generator &amp; RiskGPT → RL-based Failure Scenario Analyzer → Risk Model Solver generates the safety report.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E7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plan: primarily ROS-Gazebo simulation; industrial use would connect real sensor/controller data; future scope includes cloud monitoring, remote supervision, and automated reporting.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109960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B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Risk Assessment of AI-Controlled Robotic Systems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F17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3 · TESTING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3.22–3.24  Testing Strategy &amp; Test Cases</a:t>
            </a:r>
            <a:endParaRPr lang="en-US" sz="280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11064240" cy="914400"/>
        </p:xfrm>
        <a:graphic>
          <a:graphicData uri="http://schemas.openxmlformats.org/drawingml/2006/table">
            <a:tbl>
              <a:tblPr/>
              <a:tblGrid>
                <a:gridCol w="3840480"/>
                <a:gridCol w="5394960"/>
                <a:gridCol w="18288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Case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4E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Expected Result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4E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4E4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7ED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Robot Initialization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2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7ED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Robot starts successfully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2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7ED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22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7ED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Logging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2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7ED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Operational data recorded correctly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2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7ED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22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7ED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Skill Detection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2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7ED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Robot actions identified accurately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2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7ED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22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7ED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Behavioral Analysis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2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7ED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Behavioral profile generated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2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7ED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22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7ED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RiskGPT Analysis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2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7ED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Failure modes identified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2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7ED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22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7ED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 Model Generation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2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7ED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Probabilistic model created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2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7ED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22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7ED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Failure Scenario Analysis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2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7ED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Fault scenarios detected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2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7ED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22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7ED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Final Risk Assessment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2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7ED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 report generated successfully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2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7ED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22E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11109960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B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Risk Assessment of AI-Controlled Robotic Systems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F17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3 · RESULTS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3.25–3.28  Results, Performance &amp; Limitations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440680" cy="4480560"/>
          </a:xfrm>
          <a:prstGeom prst="roundRect">
            <a:avLst>
              <a:gd name="adj" fmla="val 1633"/>
            </a:avLst>
          </a:prstGeom>
          <a:solidFill>
            <a:srgbClr val="17222E"/>
          </a:solidFill>
          <a:ln w="12700">
            <a:solidFill>
              <a:srgbClr val="17222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172200" y="1783080"/>
            <a:ext cx="5440680" cy="4480560"/>
          </a:xfrm>
          <a:prstGeom prst="roundRect">
            <a:avLst>
              <a:gd name="adj" fmla="val 1633"/>
            </a:avLst>
          </a:prstGeom>
          <a:solidFill>
            <a:srgbClr val="17222E"/>
          </a:solidFill>
          <a:ln w="12700">
            <a:solidFill>
              <a:srgbClr val="1722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20116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Performance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68680" y="2468880"/>
            <a:ext cx="493776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350" dirty="0">
                <a:solidFill>
                  <a:srgbClr val="E7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Logging, Skill Detection, and Behavioral Analysis modules correctly captured and classified robot activity.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350" dirty="0">
                <a:solidFill>
                  <a:srgbClr val="E7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RiskGPT generated plausible failure modes; RL agent discovered several hazardous operating conditions.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350" dirty="0">
                <a:solidFill>
                  <a:srgbClr val="E7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 execution time, response time, and data-handling across repeated simulation runs.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492240" y="20116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&amp; Tools Used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92240" y="2468880"/>
            <a:ext cx="493776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350" dirty="0">
                <a:solidFill>
                  <a:srgbClr val="E7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Simulation-only validation — not yet deployed on physical industrial robots.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350" dirty="0">
                <a:solidFill>
                  <a:srgbClr val="E7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depends on simulation fidelity and RL training quality; multi-robot scenarios need more compute.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350" dirty="0">
                <a:solidFill>
                  <a:srgbClr val="E7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Tools: ROS, Gazebo, Python, RL libraries, RiskGPT, Ubuntu Linux.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11109960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B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Risk Assessment of AI-Controlled Robotic Systems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F17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3 · OUTCOMES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3.29–3.31  Achievements, Applications &amp; Final Thoughts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10881360" cy="4617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E7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Achievement: successfully integrated ROS, Gazebo, RL, RiskGPT, behavioral analysis, probabilistic risk assessment, and RL-based failure-scenario identification into one framework.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E7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Applications: Smart Manufacturing · Warehouse Automation · Healthcare &amp; Medical Robotics · Autonomous Research Labs · Industrial Manipulators · Smart Farming · Defense &amp; Surveillance · Space Exploration · Mobile Robots · Industry 5.0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E7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thought: growing robot autonomy demands equally advanced, continuous safety mechanisms — this framework is a step toward safer, more trustworthy AI-controlled robotics.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109960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B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Risk Assessment of AI-Controlled Robotic Systems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F17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4 · LITERATURE SURVEY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4.1  Dynamic Risk Assessment — State of the Art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10881360" cy="4617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E7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Bayesian networks/theory dynamically update failure probabilities (storage tanks, water control systems) [3,4].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E7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Schneider — dynamic risk management overview for cyber-physical systems [5]; Kaul et al. — reliability of mechatronic systems via Bayesian networks [6]; SINADRA — situation-aware DRA for autonomous vehicles [7].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E7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Human-Robot Collaboration: formal verification of safety [8]; HAZOP integrated with risk estimation [9].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E7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Dong et al. — dependability analysis of deep RL via Discrete-Time Markov Chains &amp; Probabilistic Model Checking [13]; Brunke — safe learning control limitations [14]; Kwon et al. — balancing reward with safety constraints [15].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E7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Identified gap: little work on DRA for black-box RL policies and automated discovery of critical failure scenarios — the focus of this project.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109960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B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Risk Assessment of AI-Controlled Robotic Systems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F17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4 · LITERATURE SURVEY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4.2–4.3  LLMs for Risk Assessment &amp; Fault Injection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440680" cy="4480560"/>
          </a:xfrm>
          <a:prstGeom prst="roundRect">
            <a:avLst>
              <a:gd name="adj" fmla="val 1633"/>
            </a:avLst>
          </a:prstGeom>
          <a:solidFill>
            <a:srgbClr val="17222E"/>
          </a:solidFill>
          <a:ln w="12700">
            <a:solidFill>
              <a:srgbClr val="17222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172200" y="1783080"/>
            <a:ext cx="5440680" cy="4480560"/>
          </a:xfrm>
          <a:prstGeom prst="roundRect">
            <a:avLst>
              <a:gd name="adj" fmla="val 1633"/>
            </a:avLst>
          </a:prstGeom>
          <a:solidFill>
            <a:srgbClr val="17222E"/>
          </a:solidFill>
          <a:ln w="12700">
            <a:solidFill>
              <a:srgbClr val="1722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20116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Language Models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68680" y="2468880"/>
            <a:ext cx="493776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350" dirty="0">
                <a:solidFill>
                  <a:srgbClr val="E7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Qi et al. — ChatGPT for STPA (braking / demand-side management systems); unreliable alone, better with human-in-the-loop.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350" dirty="0">
                <a:solidFill>
                  <a:srgbClr val="E7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Diemert et al. — Co-Hazard Analysis (CoHA): human + LLM chat sessions for hazard ID; effective for simpler systems only.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492240" y="20116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Fault Injection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92240" y="2468880"/>
            <a:ext cx="493776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350" dirty="0">
                <a:solidFill>
                  <a:srgbClr val="E7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ROS/Gazebo fault-tolerant frameworks and error-propagation studies [23–26].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350" dirty="0">
                <a:solidFill>
                  <a:srgbClr val="E7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FIBlock extended with Deep RL for automated fault-parameter search [27]; ROS-based risk analysis for manipulators [30] — extended in this project.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350" dirty="0">
                <a:solidFill>
                  <a:srgbClr val="E7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 shown effective for optimizing fault-injection parameters and discovering critical failures.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11109960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B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Risk Assessment of AI-Controlled Robotic Systems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F17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5 · METHODOLOGY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Working Flow (Figure 5.1)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2377440"/>
            <a:ext cx="2029968" cy="1554480"/>
          </a:xfrm>
          <a:prstGeom prst="roundRect">
            <a:avLst>
              <a:gd name="adj" fmla="val 3529"/>
            </a:avLst>
          </a:prstGeom>
          <a:solidFill>
            <a:srgbClr val="1B4B49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245059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58368" y="2788920"/>
            <a:ext cx="181051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7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1–2. Robotic System &amp; Simulation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7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Gazebo/ROS; skills = Move to A, Pick, Carry to B, Place; black-box RL control policy.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2578608" y="2880360"/>
            <a:ext cx="228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2807208" y="2377440"/>
            <a:ext cx="2029968" cy="1554480"/>
          </a:xfrm>
          <a:prstGeom prst="roundRect">
            <a:avLst>
              <a:gd name="adj" fmla="val 3529"/>
            </a:avLst>
          </a:prstGeom>
          <a:solidFill>
            <a:srgbClr val="20303D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898648" y="245059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916936" y="2788920"/>
            <a:ext cx="181051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7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3–4. Data Logging &amp; Skill Detection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7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 logger + LSTM/MLP/Attention classifier detects executed skills.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837176" y="2880360"/>
            <a:ext cx="228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5065776" y="2377440"/>
            <a:ext cx="2029968" cy="1554480"/>
          </a:xfrm>
          <a:prstGeom prst="roundRect">
            <a:avLst>
              <a:gd name="adj" fmla="val 3529"/>
            </a:avLst>
          </a:prstGeom>
          <a:solidFill>
            <a:srgbClr val="1B4B49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157216" y="245059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175504" y="2788920"/>
            <a:ext cx="181051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7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5–6. Behavioral Analysis &amp; Risk Model Generation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7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behavioral profile; generates Fault Tree / Bayesian / Markov / hybrid models.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7095744" y="2880360"/>
            <a:ext cx="228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7324344" y="2377440"/>
            <a:ext cx="2029968" cy="1554480"/>
          </a:xfrm>
          <a:prstGeom prst="roundRect">
            <a:avLst>
              <a:gd name="adj" fmla="val 3529"/>
            </a:avLst>
          </a:prstGeom>
          <a:solidFill>
            <a:srgbClr val="20303D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415784" y="245059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434072" y="2788920"/>
            <a:ext cx="181051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7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7–9. RiskGPT, Failure Scenario Analyzer &amp; GA Optimization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7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identifies failure modes; RL + fault injection finds critical scenarios; GA tunes fault parameters.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9354312" y="2880360"/>
            <a:ext cx="228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9582912" y="2377440"/>
            <a:ext cx="2029968" cy="1554480"/>
          </a:xfrm>
          <a:prstGeom prst="roundRect">
            <a:avLst>
              <a:gd name="adj" fmla="val 3529"/>
            </a:avLst>
          </a:prstGeom>
          <a:solidFill>
            <a:srgbClr val="1B4B49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674352" y="245059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692640" y="2788920"/>
            <a:ext cx="181051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7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10–13. Evaluation, Feedback &amp; Deployment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7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OpenPRA quantifies risk; feedback retrains RL policy; safer robot deployed and continuously monitored.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11109960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B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Risk Assessment of AI-Controlled Robotic Systems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0F17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5 · METHODOLOGY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5.1–5.3  Data Logging, Skill Detection &amp; Behavioral Analysis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10881360" cy="4617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E7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Logging: hardware-interface-integrated ROS logger records position, velocity, effort and execution time of each joint as time-series data; works with any ROS code/version and hardware.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E7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Detection: deep-learning classifier (LSTM + MLP + attention) labels time series with skills such as move, pick, carry; trained on self-generated data with varied speed, timing, and path-planning parameters.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E7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Behavioral Analysis: rule-based interpretation builds the behavioral profile — skill sequence with exact timing, active components per skill, and their properties (velocity, effort, active time).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109960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B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Risk Assessment of AI-Controlled Robotic Systems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0F17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5 · METHODOLOGY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5.4–5.5  Risk Model Generation &amp; Risk Model Solver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10881360" cy="4617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E7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Model Generation parses the behavioral profile plus expert-supplied risk data (failure probabilities, redundancy, fault tolerance).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E7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a fault tree per detected skill: OR-gate top event if no fault tolerance; AND-gate + extra basic events for redundant components; can combine with Bayesian networks for dependent failures.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E7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high-level dynamic model (Markov chain / stochastic Petri net / dual graph / PRISM) links skill-transient states to absorbing failure and “done” states, driven by the interconnected fault trees.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E7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a hybrid risk model (Markov chain + fault trees) in the OpenPRA model-exchange format.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E7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Model Solver: OpenPRA first solves the fault trees, feeds results into Markov-chain transitions, then solves the final chain for failure probability.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109960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B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Risk Assessment of AI-Controlled Robotic Systems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0F17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5 · METHODOLOGY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5.6  Failure Mode Identifier (RiskGPT)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10881360" cy="4617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E7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machine learning — LLMs and decision trees — to automate identification of robotic failure modes.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E7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Investigates Meta Llama 3 and OpenAI GPT-4 to evaluate state-of-the-art LLMs for this task.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E7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 Retrieval-Augmented Generation (RAG) to bring in external knowledge, and LangChain to chain prompts for context-aware interaction.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E7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Inputs: ROS control code, robotic system description (joints, cameras, grippers, controllers, power), and task specification.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E7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an exhaustive list of possible failure modes for the robot's task and configuration, reviewed and supplemented by the user.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109960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B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Risk Assessment of AI-Controlled Robotic Systems</a:t>
            </a:r>
            <a:endParaRPr lang="en-U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0F17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5 · METHODOLOGY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5.7  Failure Scenario Analyzer (Figure 5.4)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2377440"/>
            <a:ext cx="3535680" cy="1554480"/>
          </a:xfrm>
          <a:prstGeom prst="roundRect">
            <a:avLst>
              <a:gd name="adj" fmla="val 3529"/>
            </a:avLst>
          </a:prstGeom>
          <a:solidFill>
            <a:srgbClr val="1B4B49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245059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58368" y="2788920"/>
            <a:ext cx="331622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7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 Agent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7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PPO / Deep Q-Learning choose fault actions from observations &amp; rewards; intrinsic exploration (e.g. random network distillation) speeds discovery.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4084320" y="2880360"/>
            <a:ext cx="228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4312920" y="2377440"/>
            <a:ext cx="3535680" cy="1554480"/>
          </a:xfrm>
          <a:prstGeom prst="roundRect">
            <a:avLst>
              <a:gd name="adj" fmla="val 3529"/>
            </a:avLst>
          </a:prstGeom>
          <a:solidFill>
            <a:srgbClr val="20303D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04360" y="245059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422648" y="2788920"/>
            <a:ext cx="331622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7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Fault Injection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7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Injects bias, noise, stuck-at, packet-loss or bit-flip faults with chosen location, duration, skill phase, and magnitude.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7848600" y="2880360"/>
            <a:ext cx="228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8077200" y="2377440"/>
            <a:ext cx="3535680" cy="1554480"/>
          </a:xfrm>
          <a:prstGeom prst="roundRect">
            <a:avLst>
              <a:gd name="adj" fmla="val 3529"/>
            </a:avLst>
          </a:prstGeom>
          <a:solidFill>
            <a:srgbClr val="1B4B49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168640" y="245059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186928" y="2788920"/>
            <a:ext cx="331622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7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Detector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7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Monitors ROS topics to detect when a failure mode occurs and feeds this back to the RL agent.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40080" y="4297680"/>
            <a:ext cx="10881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▪"/>
            </a:pPr>
            <a:r>
              <a:rPr lang="en-US" sz="1400" dirty="0">
                <a:solidFill>
                  <a:srgbClr val="9FB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inside Gazebo / NVIDIA Isaac Sim / MuJoCo. Output: a set of critical failure scenarios/events for preemptive safety measures.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1109960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B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Risk Assessment of AI-Controlled Robotic Systems</a:t>
            </a:r>
            <a:endParaRPr lang="en-US" sz="9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0F17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5 · METHODOLOGY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5.7.1 &amp; 5.8  Genetic Algorithms &amp; Evaluation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10881360" cy="4617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E7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Genetic Algorithms optimize fault-injection parameters (type, location, duration, magnitude) across generations, alongside RL, to surface the most critical failure scenarios efficiently.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E7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Enhances discovery of drops, collisions, sensor malfunctions, and other unsafe behavior beyond what RL exploration alone finds.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E7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stage analyzes detected critical scenarios and builds a dynamic high-level risk model (Markov chain, stochastic Petri net, event tree/ESD, dual-graph, or PRISM).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E7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Assigning probabilities to these events quantifies failure likelihood via OpenPRA — insights then retrain the RL agent's environment or guide developers to harden the control policy.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109960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B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Risk Assessment of AI-Controlled Robotic Systems</a:t>
            </a:r>
            <a:endParaRPr lang="en-US" sz="9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0F17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6 · REQUIREMENTS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6.1–6.3  Hardware &amp; Software Requirements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440680" cy="4480560"/>
          </a:xfrm>
          <a:prstGeom prst="roundRect">
            <a:avLst>
              <a:gd name="adj" fmla="val 1633"/>
            </a:avLst>
          </a:prstGeom>
          <a:solidFill>
            <a:srgbClr val="17222E"/>
          </a:solidFill>
          <a:ln w="12700">
            <a:solidFill>
              <a:srgbClr val="17222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172200" y="1783080"/>
            <a:ext cx="5440680" cy="4480560"/>
          </a:xfrm>
          <a:prstGeom prst="roundRect">
            <a:avLst>
              <a:gd name="adj" fmla="val 1633"/>
            </a:avLst>
          </a:prstGeom>
          <a:solidFill>
            <a:srgbClr val="17222E"/>
          </a:solidFill>
          <a:ln w="12700">
            <a:solidFill>
              <a:srgbClr val="1722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20116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(PC Specifications)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68680" y="2468880"/>
            <a:ext cx="493776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350" dirty="0">
                <a:solidFill>
                  <a:srgbClr val="E7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Processor: Intel Core i5 / AMD Ryzen 5 or above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350" dirty="0">
                <a:solidFill>
                  <a:srgbClr val="E7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RAM: minimum 8 GB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350" dirty="0">
                <a:solidFill>
                  <a:srgbClr val="E7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Storage: 256 GB SSD or above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350" dirty="0">
                <a:solidFill>
                  <a:srgbClr val="E7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OS: Ubuntu 22.04 LTS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350" dirty="0">
                <a:solidFill>
                  <a:srgbClr val="E7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GPU: optional NVIDIA GPU for faster AI training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350" dirty="0">
                <a:solidFill>
                  <a:srgbClr val="E7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Simulation-based project — no external hardware required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492240" y="20116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92240" y="2468880"/>
            <a:ext cx="493776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350" dirty="0">
                <a:solidFill>
                  <a:srgbClr val="E7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Ubuntu Linux — development platform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350" dirty="0">
                <a:solidFill>
                  <a:srgbClr val="E7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— programming language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350" dirty="0">
                <a:solidFill>
                  <a:srgbClr val="E7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 / ROS2 — robot middleware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350" dirty="0">
                <a:solidFill>
                  <a:srgbClr val="E7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Gazebo — 3D robot simulation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350" dirty="0">
                <a:solidFill>
                  <a:srgbClr val="E7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 — code editor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350" dirty="0">
                <a:solidFill>
                  <a:srgbClr val="E7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OpenPRA — risk assessment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350" dirty="0">
                <a:solidFill>
                  <a:srgbClr val="E7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— version control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11109960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B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Risk Assessment of AI-Controlled Robotic Systems</a:t>
            </a:r>
            <a:endParaRPr lang="en-US" sz="9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0F17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6 · IMPLEMENTATION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6.4–6.10  Software Architecture &amp; Component Implementation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10881360" cy="4617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E7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architecture: Data Logging → Skill Detection → Behavioral Analysis → RiskGPT → Risk Model Generator → Failure Scenario Analyzer → Risk Solver — with a feedback loop back into policy training.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E7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 environment: full system implemented in ROS-Gazebo, providing safe, realistic testing without physical hardware.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E7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Reinforcement Learning: PPO and Deep Q-Learning train the agent to act efficiently and to surface failure scenarios.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E7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RiskGPT: LLM-driven identification of failure modes, causes, and mitigation strategies.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E7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OpenPRA integration: generates probabilistic risk models and computes failure probabilities.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E7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Genetic Algorithm: optimizes fault-injection parameter combinations for more effective scenario discovery.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109960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B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Risk Assessment of AI-Controlled Robotic Systems</a:t>
            </a:r>
            <a:endParaRPr lang="en-US" sz="9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0F17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6 · IMPLEMENTATION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6.11–6.17  Program Structure, Data &amp; Outcomes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440680" cy="4480560"/>
          </a:xfrm>
          <a:prstGeom prst="roundRect">
            <a:avLst>
              <a:gd name="adj" fmla="val 1633"/>
            </a:avLst>
          </a:prstGeom>
          <a:solidFill>
            <a:srgbClr val="17222E"/>
          </a:solidFill>
          <a:ln w="12700">
            <a:solidFill>
              <a:srgbClr val="17222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172200" y="1783080"/>
            <a:ext cx="5440680" cy="4480560"/>
          </a:xfrm>
          <a:prstGeom prst="roundRect">
            <a:avLst>
              <a:gd name="adj" fmla="val 1633"/>
            </a:avLst>
          </a:prstGeom>
          <a:solidFill>
            <a:srgbClr val="17222E"/>
          </a:solidFill>
          <a:ln w="12700">
            <a:solidFill>
              <a:srgbClr val="1722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20116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 &amp; Data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68680" y="2468880"/>
            <a:ext cx="493776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350" dirty="0">
                <a:solidFill>
                  <a:srgbClr val="E7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modules for simulation, data collection, behavioral analysis, RL, risk assessment, and reporting.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350" dirty="0">
                <a:solidFill>
                  <a:srgbClr val="E7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Files: main.py, train.py, risk.py, behavior.py, logger.py, env.py, utils.py.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350" dirty="0">
                <a:solidFill>
                  <a:srgbClr val="E7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Experimental data (sensor values, robot states, outputs) stored as structured CSV/JSON/ROS bags.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492240" y="20116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 &amp; Limitations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92240" y="2468880"/>
            <a:ext cx="493776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350" dirty="0">
                <a:solidFill>
                  <a:srgbClr val="E7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Advantages: modular design, easy ROS integration, safe simulation, automated risk assessment, scalable for future development.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350" dirty="0">
                <a:solidFill>
                  <a:srgbClr val="E7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Limitation: current implementation is simulation-only, not yet validated on physical robotic hardware.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11109960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B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Risk Assessment of AI-Controlled Robotic Systems</a:t>
            </a:r>
            <a:endParaRPr lang="en-US" sz="9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0F17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7 · EXPERIMENTAL SETUP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7.1–7.2  Robotic System &amp; Control Policy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10881360" cy="4617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E7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validation planned with a Franka Emika Panda robot and RL policies.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E7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Robotic system components: Gripper, Joints, Sensors, Controller, Camera, Power System, Software; both virtual (Gazebo / NVIDIA Isaac Sim) and real settings are used, with matched physical parameters.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E7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Task: detect, grasp, and place objects via a black-box RL control policy across Object Detection → Move → Pick → Carry → Place.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E7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PPO (on-policy) and Deep Q-Learning (off-policy) were tried; Deep Q-Learning trained faster but was less stable, while PPO converged reliably — making PPO the practical choice.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E7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Input: raw camera image. Output: Cartesian displacement of the end-effector. Sim2Real used to transfer the trained policy to the physical Panda robot.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109960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B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Risk Assessment of AI-Controlled Robotic Systems</a:t>
            </a:r>
            <a:endParaRPr lang="en-US" sz="9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0F17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8 · RESULTS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8.1–8.2  Challenges &amp; Preliminary Results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440680" cy="4480560"/>
          </a:xfrm>
          <a:prstGeom prst="roundRect">
            <a:avLst>
              <a:gd name="adj" fmla="val 1633"/>
            </a:avLst>
          </a:prstGeom>
          <a:solidFill>
            <a:srgbClr val="17222E"/>
          </a:solidFill>
          <a:ln w="12700">
            <a:solidFill>
              <a:srgbClr val="17222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172200" y="1783080"/>
            <a:ext cx="5440680" cy="4480560"/>
          </a:xfrm>
          <a:prstGeom prst="roundRect">
            <a:avLst>
              <a:gd name="adj" fmla="val 1633"/>
            </a:avLst>
          </a:prstGeom>
          <a:solidFill>
            <a:srgbClr val="17222E"/>
          </a:solidFill>
          <a:ln w="12700">
            <a:solidFill>
              <a:srgbClr val="1722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20116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68680" y="2468880"/>
            <a:ext cx="493776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350" dirty="0">
                <a:solidFill>
                  <a:srgbClr val="E7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 fidelity limits which scenarios the failure detector can catch; speed vs. accuracy trade-off given compute limits.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350" dirty="0">
                <a:solidFill>
                  <a:srgbClr val="E7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Tuning RL for continuous, effective exploration of multiple distinct failure causes is difficult.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492240" y="20116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Preliminary Results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92240" y="2468880"/>
            <a:ext cx="493776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350" dirty="0">
                <a:solidFill>
                  <a:srgbClr val="E7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RiskGPT (custom GPT model) identified top failure modes for the Franka Emika Panda: Object Drop, Collision with Humans, Misidentification of Objects.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350" dirty="0">
                <a:solidFill>
                  <a:srgbClr val="E7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Scenario Analyzer reward design: penalizes obvious, highly-likely faults and rewards discovering rare-but-severe failure scenarios.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11109960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B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Risk Assessment of AI-Controlled Robotic Systems</a:t>
            </a:r>
            <a:endParaRPr lang="en-US" sz="9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0F17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8 · DISCUSSION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8.3.1–8.3.3  Comparison with Existing Systems</a:t>
            </a:r>
            <a:endParaRPr lang="en-US" sz="2800" dirty="0"/>
          </a:p>
        </p:txBody>
      </p:sp>
      <p:graphicFrame>
        <p:nvGraphicFramePr>
          <p:cNvPr id="4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11064240" cy="914400"/>
        </p:xfrm>
        <a:graphic>
          <a:graphicData uri="http://schemas.openxmlformats.org/drawingml/2006/table">
            <a:tbl>
              <a:tblPr/>
              <a:tblGrid>
                <a:gridCol w="4572000"/>
                <a:gridCol w="3383280"/>
                <a:gridCol w="310896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4E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Existing Systems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4E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Proposed System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4E4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7ED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Static Risk Assessment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2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7ED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2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7ED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22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7ED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Dynamic Risk Assessment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2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7ED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2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7ED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22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7ED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Reinforcement Learning Integration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2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7ED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2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7ED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22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7ED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Automated Failure ID (RiskGPT)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2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7ED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2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7ED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(RiskGPT)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22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7ED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Behavioral Analysis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2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7ED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2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7ED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22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7ED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Probabilistic Risk Modeling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2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7ED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2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7ED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22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7ED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Continuous Monitoring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2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7ED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2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7ED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22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7ED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Simulation-Based Validation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2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7ED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Available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2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7ED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Enhanced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22E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11109960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B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Risk Assessment of AI-Controlled Robotic Systems</a:t>
            </a:r>
            <a:endParaRPr lang="en-US" sz="9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0F17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8 · DISCUSSION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8.3.4–8.3.8  Feedback, Strengths &amp; Future Directions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440680" cy="4480560"/>
          </a:xfrm>
          <a:prstGeom prst="roundRect">
            <a:avLst>
              <a:gd name="adj" fmla="val 1633"/>
            </a:avLst>
          </a:prstGeom>
          <a:solidFill>
            <a:srgbClr val="17222E"/>
          </a:solidFill>
          <a:ln w="12700">
            <a:solidFill>
              <a:srgbClr val="17222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172200" y="1783080"/>
            <a:ext cx="5440680" cy="4480560"/>
          </a:xfrm>
          <a:prstGeom prst="roundRect">
            <a:avLst>
              <a:gd name="adj" fmla="val 1633"/>
            </a:avLst>
          </a:prstGeom>
          <a:solidFill>
            <a:srgbClr val="17222E"/>
          </a:solidFill>
          <a:ln w="12700">
            <a:solidFill>
              <a:srgbClr val="1722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20116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Feedback &amp; Strengths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68680" y="2468880"/>
            <a:ext cx="493776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350" dirty="0">
                <a:solidFill>
                  <a:srgbClr val="E7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Simulation-based evaluation shows accurate risk analysis with reduced manual effort.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350" dirty="0">
                <a:solidFill>
                  <a:srgbClr val="E7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architecture and clear risk reports are easy to understand and adapt.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350" dirty="0">
                <a:solidFill>
                  <a:srgbClr val="E7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Strengths: RL + RiskGPT integration, automated failure-mode ID, continuous monitoring, safe ROS/Gazebo simulation.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492240" y="20116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Limitations, Lessons &amp; Future Work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92240" y="2468880"/>
            <a:ext cx="493776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350" dirty="0">
                <a:solidFill>
                  <a:srgbClr val="E7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yet tested on physical industrial robots; depends on simulation/ RL quality; complex multi-robot scenes need more compute.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350" dirty="0">
                <a:solidFill>
                  <a:srgbClr val="E7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Lesson: integrating multiple AI techniques needs careful design and continuous testing.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350" dirty="0">
                <a:solidFill>
                  <a:srgbClr val="E7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Future: real robotic platforms, collaborative/mobile robots, healthcare robotics, XAI, digital twins, cloud/edge computing, Industry 5.0.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11109960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B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Risk Assessment of AI-Controlled Robotic Systems</a:t>
            </a:r>
            <a:endParaRPr lang="en-US" sz="9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0F17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8 · OUTPUT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8.2 &amp; Table 8.2 — Dynamic Exploration &amp; Risk Matrix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94960" cy="2286000"/>
          </a:xfrm>
          <a:prstGeom prst="roundRect">
            <a:avLst>
              <a:gd name="adj" fmla="val 2400"/>
            </a:avLst>
          </a:prstGeom>
          <a:solidFill>
            <a:srgbClr val="17222E"/>
          </a:solidFill>
          <a:ln w="12700">
            <a:solidFill>
              <a:srgbClr val="17222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82880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Exploration Performance Search Curve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777240" y="2331720"/>
            <a:ext cx="49377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9FB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Risk Score Explored rises sharply after ~Step 30 (Genetic Algorithm generations), climbing past 900 as RL + GA converge on critical fault combinations; Avg Population Risk follows more gradually.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172200" y="1691640"/>
            <a:ext cx="5440680" cy="2286000"/>
          </a:xfrm>
          <a:prstGeom prst="roundRect">
            <a:avLst>
              <a:gd name="adj" fmla="val 2400"/>
            </a:avLst>
          </a:prstGeom>
          <a:solidFill>
            <a:srgbClr val="17222E"/>
          </a:solidFill>
          <a:ln w="12700">
            <a:solidFill>
              <a:srgbClr val="17222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0" y="182880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Spatial End-Effector Trajectory Deviation ('Move to A')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400800" y="2331720"/>
            <a:ext cx="5029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9FB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Stuck-At fault on Gripper_State pushes deviation to ~12.8 mm — above the 12 mm Human-Collision threshold and well past the 8 mm Object-Drop threshold.</a:t>
            </a:r>
            <a:endParaRPr lang="en-US" sz="1250" dirty="0"/>
          </a:p>
        </p:txBody>
      </p:sp>
      <p:graphicFrame>
        <p:nvGraphicFramePr>
          <p:cNvPr id="4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160520"/>
          <a:ext cx="11064240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1828800"/>
                <a:gridCol w="2011680"/>
                <a:gridCol w="2377440"/>
                <a:gridCol w="2468880"/>
                <a:gridCol w="173736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4E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Fault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4E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Hardware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4E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Skill Phase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4E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Triggered Mode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4E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 Score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4E4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7ED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2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7ED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Stuck-At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2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7ED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Gripper_State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2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7ED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Move to 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2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7ED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Collision w/ Human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2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7ED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913.22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22E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7ED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2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7ED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Stuck-At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2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7ED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Gripper_State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2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7ED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Carry to 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2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7ED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Object Drop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2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7ED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781.02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22E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7ED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2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7ED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Stuck-At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2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7ED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Gripper_State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2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7ED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Pick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2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7ED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Object Drop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2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7ED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416.25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22E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7ED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2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7ED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Packet Loss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2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7ED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Gripper_State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2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7ED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Carry to 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2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7ED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Object Drop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2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7ED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324.09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22E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7ED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2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7ED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Stuck-At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2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7ED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Camera_Image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2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7ED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Object Detection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2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7ED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Misidentification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2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7ED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79.27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22E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7ED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2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7ED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Stuck-At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2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7ED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Camera_Image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2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7ED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2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7ED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Misidentification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2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7ED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74.66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22E"/>
                    </a:solidFill>
                  </a:tcPr>
                </a:tc>
              </a:tr>
            </a:tbl>
          </a:graphicData>
        </a:graphic>
      </p:graphicFrame>
      <p:sp>
        <p:nvSpPr>
          <p:cNvPr id="11" name="Text 8"/>
          <p:cNvSpPr/>
          <p:nvPr/>
        </p:nvSpPr>
        <p:spPr>
          <a:xfrm>
            <a:off x="11109960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B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Risk Assessment of AI-Controlled Robotic Systems</a:t>
            </a:r>
            <a:endParaRPr lang="en-US" sz="9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0F17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9 · CONCLUSION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and Future Scope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10881360" cy="4617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E7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Introduces a novel concept for assessing vulnerabilities in black-box RL policies and comprehensive risk assessment of AI-controlled robots.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E7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 can retrain the original RL agent to enhance safety, and can guide developers of deterministic systems toward specific vulnerabilities.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E7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key methods form the core approach: Data Logging, Skill Detection, Behavioral Analysis, Risk Model Generation, and Risk Model Solver.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E7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Ongoing work extends this with LLM-based failure-mode discovery analyzed through reinforcement learning and fault injection.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E7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Scope: integrate Genetic Algorithms with RL to speed up fault-parameter exploration and critical-scenario discovery.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E7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more time: more real-world experiments, richer domain knowledge for RiskGPT, and maturing the hybrid RL+GA optimization into a production-level system.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109960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B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Risk Assessment of AI-Controlled Robotic Systems</a:t>
            </a:r>
            <a:endParaRPr lang="en-US" sz="9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0F17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10 · REFERENCES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 (1/3) — [1]–[18]</a:t>
            </a:r>
            <a:endParaRPr lang="en-US" sz="2800" dirty="0"/>
          </a:p>
        </p:txBody>
      </p:sp>
      <p:graphicFrame>
        <p:nvGraphicFramePr>
          <p:cNvPr id="4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11064240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1042416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4E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Citation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4E4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7ED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2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7ED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 — Reinforcement learning for robots using neural networks, CMU (1992)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22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7ED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2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7ED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Ibarz et al. — How to train your robot with deep RL: lessons learned, IJRR 40(4–5) (2021)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22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7ED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2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7ED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Kim, Shah &amp; Kang — Dynamic risk assessment with Bayesian network &amp; clustering, RESS (2020)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22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7ED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2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7ED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Kalantarnia, Khan &amp; Hayboldt — Dynamic risk assessment using failure assessment &amp; Bayesian theory (2009)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22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7ED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2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7ED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Schneider et al. — Dynamic Risk Management in Cyber Physical Systems, arXiv (2024)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22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7ED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2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7ED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Kaul, Meyer &amp; Sextro — Integrated model for dynamics &amp; reliability of mechatronic systems, ESREL (2015)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22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7ED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2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7ED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Reich &amp; Trapp — SINADRA: situation-aware dynamic risk assessment framework, EDCC (2020)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22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7ED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2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7ED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Vicentini et al. — Safety assessment of collaborative robotics via formal verification, IEEE T-RO (2019)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22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7ED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2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7ED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Inam et al. — Risk assessment for human-robot collaboration in a warehouse, ETFA (2018)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22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7ED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10–12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2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7ED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Grimmeisen et al. — Automated &amp; continuous risk assessment for ROS-based systems, CASE/ETFA/MODELS (2022–23)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22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7ED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2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7ED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Dong, Zhao &amp; Huang — Dependability analysis of deep RL via probabilistic model checking, IROS (2022)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22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7ED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2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7ED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Brunke et al. — Safe learning in robotics: from learning-based control to safe RL (2022)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22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7ED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2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7ED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Kwon et al. — Applying quantitative model checking to safety in RL, IEEE Access (2024)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22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7ED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2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7ED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Camilli et al. — Towards risk modeling for collaborative AI, WAIN (2021)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22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7ED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2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7ED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Villani et al. — Survey on human-robot collaboration: safety &amp; interfaces, Mechatronics (2018)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22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7ED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2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7ED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Keskar et al. — Ctrl: a conditional transformer language model, arXiv (2019)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22E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11109960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B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Risk Assessment of AI-Controlled Robotic Systems</a:t>
            </a:r>
            <a:endParaRPr lang="en-US" sz="9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0F17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10 · REFERENCES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 (2/3) — [19]–[36]</a:t>
            </a:r>
            <a:endParaRPr lang="en-US" sz="2800" dirty="0"/>
          </a:p>
        </p:txBody>
      </p:sp>
      <p:graphicFrame>
        <p:nvGraphicFramePr>
          <p:cNvPr id="4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11064240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1042416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4E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Citation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4E4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7ED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2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7ED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Brown et al. — Language models are few-shot learners, NeurIPS (2020)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22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7ED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2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7ED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Devlin et al. — BERT: pre-training of deep bidirectional transformers, arXiv (2018)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22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7ED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2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7ED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Qi et al. — Safety analysis in the era of LLMs: STPA case study with ChatGPT, arXiv (2023)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22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7ED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2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7ED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Diemert &amp; Weber — Can large language models assist in hazard analysis?, SAFECOMP (2023)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22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7ED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2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7ED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Favier et al. — A hierarchical fault-tolerant architecture for autonomous robots, DSNW (2020)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22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7ED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2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7ED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Zhao et al. — A fault-tolerant architecture for mobile robot localization, ICCA (2019)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22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7ED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2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7ED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Morais et al. — Distributed fault diagnosis for multiple mobile robots, ICAR (2015)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22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7ED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2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7ED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Hsiao et al. — MAVFI: end-to-end fault analysis framework for micro aerial vehicles, DATE (2023)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22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7ED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2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7ED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Fabarisov et al. — Fidget: deep-learning-based fault injection framework, ETFA (2022)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22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7ED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2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7ED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Alemzadeh et al. — Targeted attacks on teleoperated surgical robots, DSN (2016)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22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7ED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2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7ED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 et al. — A hardware-in-the-loop simulator for safety training in robotic surgery, IROS (2016)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22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7ED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2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7ED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Ma, Grimmeisen &amp; Morozov — ROS-based fault injection for risk analysis of manipulators, CASE (2023)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22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7ED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2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7ED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Gao et al. — Retrieval-augmented generation for LLMs: a survey, arXiv (2023)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22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7ED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2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7ED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Lewis et al. — Retrieval-augmented generation for knowledge-intensive NLP, NeurIPS (2020)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22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7ED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2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7ED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Topsakal &amp; Akinci — Creating LLM applications with LangChain, ICAENS (2023)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22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7ED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2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7ED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Makoviychuk et al. — Isaac Gym: high-performance GPU-based physics simulation, arXiv (2021)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22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7ED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2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7ED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 Robotics — Gazebo Simulator, gazebosim.org (2024)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22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7ED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2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7ED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Todorov, Erez &amp; Tassa — MuJoCo: a physics engine for model-based control, IROS (2012)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22E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11109960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B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Risk Assessment of AI-Controlled Robotic Systems</a:t>
            </a:r>
            <a:endParaRPr lang="en-US" sz="9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0F17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10 · REFERENCES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 (3/3) — [37]–[53]</a:t>
            </a:r>
            <a:endParaRPr lang="en-US" sz="2800" dirty="0"/>
          </a:p>
        </p:txBody>
      </p:sp>
      <p:graphicFrame>
        <p:nvGraphicFramePr>
          <p:cNvPr id="4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11064240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1042416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4E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Citation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4E4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7ED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2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7ED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Moerland et al. — Model-based reinforcement learning: a survey (2023)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22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7ED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2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7ED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Schulman et al. — Proximal policy optimization algorithms, arXiv (2017)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22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7ED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2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7ED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Mnih et al. — Playing Atari with deep reinforcement learning, arXiv (2013)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22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7ED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2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7ED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Burda et al. — Exploration by random network distillation, arXiv (2018)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22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7ED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2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7ED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Kamthe &amp; Deisenroth — Data-efficient RL with probabilistic model predictive control (2018)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22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7ED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2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7ED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Grimmeisen et al. — Probabilistic risk assessment for warehouse robots with OpenPRA, ASME IMECE (2021)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22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7ED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2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7ED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Höfer et al. — Sim2Real in robotics and automation: applications &amp; challenges, IEEE T-ASE (2021)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22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7ED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2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7ED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Ibarz et al. — How to train your robot with deep RL: lessons learned, IJRR 40(4–5) (2021)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22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7ED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2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7ED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Ruijters &amp; Stoelinga — Fault tree analysis: a survey of the state-of-the-art, CSR (2015)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22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7ED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46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2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7ED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Kim — Reliability block diagram with general gates &amp; system reliability, Annals of Nuclear Energy (2011)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22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7ED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47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2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7ED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Bobbio et al. — Improving analysis of dependable systems by mapping fault trees into Bayesian networks, RESS (2001)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22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7ED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2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7ED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Fuqua — The applicability of Markov analysis methods to reliability &amp; safety, START (2003)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22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7ED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49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2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7ED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Bause &amp; Kritzinger — Stochastic Petri Nets, Vieweg Wiesbaden (2002)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22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7ED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2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7ED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Morozov &amp; Janschek — Dual graph error propagation model for mechatronic systems, IFAC (2011)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22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7ED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2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7ED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Kwiatkowska, Norman &amp; Parker — PRISM: probabilistic symbolic model checker (2002)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22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7ED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2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7ED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Grimmeisen et al. — Demonstration of limited-scope PRA for autonomous warehouse robots, ASME IMECE (2021)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22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7ED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2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7ED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Vishwakarma &amp; Sinha — Reinforcement Learning-Based Identification of Failure Scenarios (2026), SMVDU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7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22E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11109960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B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Risk Assessment of AI-Controlled Robotic Systems</a:t>
            </a:r>
            <a:endParaRPr lang="en-US" sz="9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0F17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10 · REFERENCES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Funding Acknowledgment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2011680"/>
            <a:ext cx="105156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E7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work has been partly funded by:
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German Federal Ministry of Economic Affairs and Climate Action (BMWK)</a:t>
            </a:r>
            <a:endParaRPr lang="en-US" sz="16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9FB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“Software-defined Manufacturing für die Fahrzeug- und Zulieferindustrie” (SDM4FZI), funding code 13IK001ZE
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Bundesanstalt für Arbeitsschutz und Arbeitsmedizin (BAuA, Germany)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9FB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F 2497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109960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B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Risk Assessment of AI-Controlled Robotic Systems</a:t>
            </a:r>
            <a:endParaRPr lang="en-US" sz="9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0F17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11 · APPENDICES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Annexure-A — Project Dashboard Screenshot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10881360" cy="4617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E7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dashboard for the final-year project: Reinforcement-Learning-Based Identification of Failure Scenarios.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E7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Configurable hyperparameters: RL Episodes Loop, GA Population Size, GA Evolution Generations.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E7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pipeline status: active stage (e.g. Genetic Algorithm Fine-Tuning), iteration counter, and peak OpenPRA solver risk score.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E7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6: Hybrid Search Optimization Curve — Max Risk Explored vs. Instant Step Risk across RL + GA iterations.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E7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7: Spatial End-Effector Trajectory Deviation vs. Human-Collision and Object-Drop thresholds.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E7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Console stream shows ROS topic subscriptions, detected skills, fault-injector triggers, and diagnostics; results are saved via a model-to-model transformation into the system risk model (OpenPRA format).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E7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2 (dashboard): fault mode, target hardware channel, active skill, triggered safety condition, and solver risk score for each critical scenario found.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109960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B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Risk Assessment of AI-Controlled Robotic Systems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50</Slides>
  <Notes>50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50</vt:i4>
      </vt:variant>
    </vt:vector>
  </HeadingPairs>
  <TitlesOfParts>
    <vt:vector size="5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2026-07-12T05:21:58Z</dcterms:created>
  <dcterms:modified xsi:type="dcterms:W3CDTF">2026-07-12T05:21:58Z</dcterms:modified>
</cp:coreProperties>
</file>